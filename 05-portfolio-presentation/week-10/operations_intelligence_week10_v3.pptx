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5" autoAdjust="0"/>
    <p:restoredTop sz="92373" autoAdjust="0"/>
  </p:normalViewPr>
  <p:slideViewPr>
    <p:cSldViewPr snapToGrid="0" snapToObjects="1">
      <p:cViewPr varScale="1">
        <p:scale>
          <a:sx n="102" d="100"/>
          <a:sy n="102" d="100"/>
        </p:scale>
        <p:origin x="343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F4D21-574E-45B3-AC2D-B8A31FFE933F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1ADD5-40E6-42D1-A1A2-0E4980B8279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5791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Esitlejad: Natalia, </a:t>
            </a:r>
            <a:r>
              <a:rPr lang="en-US" dirty="0" err="1"/>
              <a:t>Aeg</a:t>
            </a:r>
            <a:r>
              <a:rPr lang="en-US" dirty="0"/>
              <a:t>: 0:00–1:00,Põhisõnum: kursus ei olnud ainult tööriistade loetelu, vaid analüüsi töövoo </a:t>
            </a:r>
            <a:r>
              <a:rPr lang="en-US" dirty="0" err="1"/>
              <a:t>kokkupanek</a:t>
            </a:r>
            <a:r>
              <a:rPr lang="en-US" dirty="0"/>
              <a:t>.</a:t>
            </a:r>
            <a:r>
              <a:rPr lang="en-US" baseline="0" dirty="0"/>
              <a:t> </a:t>
            </a:r>
            <a:r>
              <a:rPr lang="en-US" dirty="0"/>
              <a:t>„Miks? Mida tegime? Ja mis siis?” loogikaga.,Üleminek: järgmised slaidid näitavad, mida kontrollitud andmed tegelikult näitasid.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 </a:t>
            </a:r>
            <a:r>
              <a:rPr lang="en-US" dirty="0" err="1"/>
              <a:t>Aeg</a:t>
            </a:r>
            <a:r>
              <a:rPr lang="en-US" dirty="0"/>
              <a:t>: umbes 30 sekundit,Põhisõnum: andmeid ei saanud alguses usaldada. 5116 duplikaati tähendas, et enne puhastust oli käive umbes 1,46 mln euro võrra üle hinnatud.,Kalju mõtte sidumine: sellise vea põhjal võib ettevõte võtta kohustusi, mida tegelik müük ei </a:t>
            </a:r>
            <a:r>
              <a:rPr lang="en-US" dirty="0" err="1"/>
              <a:t>toeta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Kalju,Aeg</a:t>
            </a:r>
            <a:r>
              <a:rPr lang="en-US" dirty="0"/>
              <a:t>: umbes 30 sekundit,Põhisõnum: 2024 </a:t>
            </a:r>
            <a:r>
              <a:rPr lang="en-US" dirty="0" err="1"/>
              <a:t>aasta</a:t>
            </a:r>
            <a:r>
              <a:rPr lang="en-US" dirty="0"/>
              <a:t> </a:t>
            </a:r>
            <a:r>
              <a:rPr lang="en-US" dirty="0" err="1"/>
              <a:t>käive</a:t>
            </a:r>
            <a:r>
              <a:rPr lang="en-US" dirty="0"/>
              <a:t> ja turunduskanalid on koondunud; juhtimise fookus peab minema suurima mõjuga piirkondadele/</a:t>
            </a:r>
            <a:r>
              <a:rPr lang="en-US" dirty="0" err="1"/>
              <a:t>kanalitele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30 sekundit,Põhisõnum: varude probleem ei ole ainult „palju” või „vähe”, vaid jaotumine võib olla vale.,Kõnetekst: 221 positsiooni vajavad juurdetellimise kontrolli, samal ajal kui 730 positsiooni näitasid ebatavaliselt kõrget laoseisu võrreldes reorder pointiga. 730 ei tähenda tõestatud ülevaru — see on kontrollsignaal.,Üleminek: varude kõrval ei jaotu ka kliendiväärtus võrdselt.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Helen,Aeg</a:t>
            </a:r>
            <a:r>
              <a:rPr lang="en-US" dirty="0"/>
              <a:t>: umbes 30 sekundit,Põhisõnum: väike VIP-grupp kannab märkimisväärset osa analüüsitud käibest.,Kõnetekst: Top 10 VIP Champions kliendid annavad 8,64% RFM-analüüsi kaasatud käibest. See tähendab, et lojaalsuse hoidmine võib olla märksa suurema mõjuga kui üldine kampaania.,Caveat: ära nimeta seda kogu ettevõtte käibeks.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Kalju,Aeg: umbes 1 minut,Põhisõnum: Python/Streamlit dashboard näitab tehnilist visualiseerimisvõimekust ja analüütilist reaktsiooni: enne ärilist tõlgendamist tuleb kontrollida andmestiku täielikkust.,Kõnetekst: Kalju saab rääkida oma õppimise osa: Python dashboard, GitHub, virtual environments, AI kasutus ja struktureeritud kood. Põhisõnum jäägu kolmele sammule: märkasin, ei eeldanud, </a:t>
            </a:r>
            <a:r>
              <a:rPr lang="en-US" dirty="0" err="1"/>
              <a:t>kontrolliksin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1 minut,Põhisõnum: Tartu 2024 käive kasvas, kuid kasv tuli tellimuste arvu suurenemisest, mitte keskmise tellimuse kasvust.,Kõnetekst: Dashboard näitab 260 044 eurot müügitulu, +13,4% käivet ja +16,5% tellimusi, samal ajal AOV langes 2,6%. See tähendab, et kasvu kvaliteeti tuleb hinnata koos mahu ja keskmise </a:t>
            </a:r>
            <a:r>
              <a:rPr lang="en-US" dirty="0" err="1"/>
              <a:t>väärtusega</a:t>
            </a:r>
            <a:r>
              <a:rPr lang="en-US" dirty="0"/>
              <a:t>., </a:t>
            </a:r>
            <a:r>
              <a:rPr lang="en-US" dirty="0" err="1"/>
              <a:t>Põhjust</a:t>
            </a:r>
            <a:r>
              <a:rPr lang="en-US" dirty="0"/>
              <a:t> ei väida; näitame muutust ja mustrit.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soovitused ei lisa uusi analüüse, vaid teisendavad eelnevad tõendid tegevuseks.,Soovitus 1: andmekvaliteet ja andmestiku täielikkus enne otsustamist.,Soovitus 2: väärtus, mitte ainult maht.,Soovitus 3: kõrge väärtusega klientide hoidmine.,Üleminek: AI aitas töövoogu, kuid vastutus jäi inimesele.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AI oli töökiirendi, kuid inimene kontrollis andmeid, arvutusi ja järeldusi.,Kalju õppimise tekstist: Python dashboard, GitHub, virtual environments, AI programmeerimise töövoos, struktureeritud ja kommenteeritud kood meeskonnatööks ning arusaam, et loogika mõistmine on olulisem kui süntaksi peast teadmine.,Lõpp: tõendatav analüüs aitab teha parema järgmise otsuse.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lju3/Portfolio/tree/main/DACA/WORKSHO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lenTanner3/daca-portfolio/tree/main/02-power-bi/week-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DACA WEEK 10 · LÕPPESITLUS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B8D"/>
                </a:solidFill>
                <a:latin typeface="Calibri"/>
              </a:rPr>
              <a:t>Andmetest otsuseni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7627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10 nädala teekond andmete korrastamisest ja analüüsist otsust toetavate visualiseeringute ning soovitusteni.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05840"/>
            <a:ext cx="3200400" cy="23317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2984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MEESKOND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27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Kalju Tamme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Helen Tanner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95728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  <a:latin typeface="Calibri"/>
              </a:rPr>
              <a:t>Natalia </a:t>
            </a:r>
            <a:r>
              <a:rPr sz="1600" b="1" i="0" dirty="0" err="1">
                <a:solidFill>
                  <a:srgbClr val="1A1A2E"/>
                </a:solidFill>
                <a:latin typeface="Calibri"/>
              </a:rPr>
              <a:t>Krassilnikova</a:t>
            </a:r>
            <a:endParaRPr sz="1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TÖÖVOOG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SEADISTA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7121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KONTROLLI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ANALÜÜSI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NÄITA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9205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OTSUSTA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3036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SQL · Python/pandas · Power BI · Supabase/PostgreSQL · Git/GitHub ·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795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8D"/>
                </a:solidFill>
                <a:latin typeface="Calibri"/>
              </a:rPr>
              <a:t>Läbiv küsimus: „Ja mis siis?”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162270-04EE-98EA-CFAF-696C7D35D0EC}"/>
              </a:ext>
            </a:extLst>
          </p:cNvPr>
          <p:cNvSpPr txBox="1"/>
          <p:nvPr/>
        </p:nvSpPr>
        <p:spPr>
          <a:xfrm>
            <a:off x="8435340" y="2752344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Olga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Leisbblous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SISSEJUHATUS ·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Operations Intelligence — andmetest otsuseni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" y="9784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Tööriistad muutusid väärtuslikuks siis, kui neist tekkis kontrollitav analüüsiahel.</a:t>
            </a:r>
            <a:endParaRPr lang="en-US" sz="1150" dirty="0"/>
          </a:p>
        </p:txBody>
      </p:sp>
      <p:pic>
        <p:nvPicPr>
          <p:cNvPr id="6" name="Image 0" descr="/mnt/data/Natalia - alg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20" y="1417320"/>
            <a:ext cx="990365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B8D"/>
                </a:solidFill>
              </a:rPr>
              <a:t>Läbiv küsimus: „Ja mis siis?”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 · Natalia — WEEK 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31096" y="2011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0:30</a:t>
            </a:r>
            <a:endParaRPr lang="en-US" sz="720" dirty="0"/>
          </a:p>
        </p:txBody>
      </p:sp>
      <p:pic>
        <p:nvPicPr>
          <p:cNvPr id="4" name="Image 0" descr="/mnt/data/Natali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78" y="658368"/>
            <a:ext cx="993902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099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Ja mis siis? Vale andmestik võib viia väga vale juhtimisotsuseni.</a:t>
            </a:r>
            <a:endParaRPr lang="en-US" sz="115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9802368" y="61081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W2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 · Kalju — WEEK 4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720" dirty="0"/>
          </a:p>
        </p:txBody>
      </p:sp>
      <p:pic>
        <p:nvPicPr>
          <p:cNvPr id="4" name="Image 0" descr="/mnt/data/Natali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05" y="713232"/>
            <a:ext cx="968011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A1A2E"/>
                </a:solidFill>
              </a:rPr>
              <a:t>Ja mis siis? Käive ja kliendihange ei jaotu ühtlaselt — fookus peab minema sinna, kus mõju on suurim.</a:t>
            </a:r>
            <a:endParaRPr lang="en-US" sz="113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10195560" y="6108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W4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III · HELEN — WEEK 3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1569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Varu võib olla vales kohas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Ühes kohas saadavusrisk, teises ebatavaliselt kõrge laoseis.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" y="1659636"/>
            <a:ext cx="4617720" cy="18143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Shape 5"/>
          <p:cNvSpPr/>
          <p:nvPr/>
        </p:nvSpPr>
        <p:spPr>
          <a:xfrm>
            <a:off x="6793992" y="1659636"/>
            <a:ext cx="4617720" cy="179069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94183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55E00"/>
                </a:solidFill>
              </a:rPr>
              <a:t>221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3327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juurdetellimise / reorder-risk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6831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9B8D"/>
                </a:solidFill>
              </a:rPr>
              <a:t>730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15975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võimalikku kõrge laoseisu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22392" y="236372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280"/>
                </a:solidFill>
              </a:rPr>
              <a:t>↔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67512" y="4690872"/>
            <a:ext cx="10568178" cy="658368"/>
          </a:xfrm>
          <a:prstGeom prst="roundRect">
            <a:avLst>
              <a:gd name="adj" fmla="val 1111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760476" y="4872228"/>
            <a:ext cx="10109454" cy="34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t-EE" sz="1300" b="1" noProof="0" dirty="0">
                <a:solidFill>
                  <a:srgbClr val="1A1A2E"/>
                </a:solidFill>
              </a:rPr>
              <a:t>Oluline piirang: 730 = kontrollsignaal, mitte tõestatud ülevaru. Reorder point on juurde</a:t>
            </a:r>
            <a:r>
              <a:rPr lang="en-US" sz="1300" b="1" noProof="0" dirty="0">
                <a:solidFill>
                  <a:srgbClr val="1A1A2E"/>
                </a:solidFill>
              </a:rPr>
              <a:t> </a:t>
            </a:r>
            <a:r>
              <a:rPr lang="et-EE" sz="1300" b="1" noProof="0" dirty="0">
                <a:solidFill>
                  <a:srgbClr val="1A1A2E"/>
                </a:solidFill>
              </a:rPr>
              <a:t>tellimise käivituspunkt, mitte optimaalne maksimaalne laotase</a:t>
            </a:r>
            <a:r>
              <a:rPr lang="et-EE" sz="1060" b="1" noProof="0" dirty="0">
                <a:solidFill>
                  <a:srgbClr val="1A1A2E"/>
                </a:solidFill>
              </a:rPr>
              <a:t>.</a:t>
            </a:r>
            <a:endParaRPr lang="et-EE" sz="1060" noProof="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W3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4</a:t>
            </a:r>
            <a:endParaRPr lang="en-US" sz="700" dirty="0"/>
          </a:p>
        </p:txBody>
      </p:sp>
      <p:sp>
        <p:nvSpPr>
          <p:cNvPr id="41" name="Rounded Rectangle 10">
            <a:extLst>
              <a:ext uri="{FF2B5EF4-FFF2-40B4-BE49-F238E27FC236}">
                <a16:creationId xmlns:a16="http://schemas.microsoft.com/office/drawing/2014/main" id="{529FCCFF-90FF-C2FA-20D3-9143AEE76F1C}"/>
              </a:ext>
            </a:extLst>
          </p:cNvPr>
          <p:cNvSpPr/>
          <p:nvPr/>
        </p:nvSpPr>
        <p:spPr>
          <a:xfrm>
            <a:off x="6805421" y="3592447"/>
            <a:ext cx="1622117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A29A5A-E625-CA82-8CC6-B18E6A0E371C}"/>
              </a:ext>
            </a:extLst>
          </p:cNvPr>
          <p:cNvSpPr txBox="1"/>
          <p:nvPr/>
        </p:nvSpPr>
        <p:spPr>
          <a:xfrm>
            <a:off x="6744843" y="3748085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>
                <a:solidFill>
                  <a:srgbClr val="D55E00"/>
                </a:solidFill>
                <a:latin typeface="Calibri"/>
              </a:rPr>
              <a:t>214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7FE943-B9DB-02C4-AE92-5C6A45AAF3AC}"/>
              </a:ext>
            </a:extLst>
          </p:cNvPr>
          <p:cNvSpPr txBox="1"/>
          <p:nvPr/>
        </p:nvSpPr>
        <p:spPr>
          <a:xfrm>
            <a:off x="6726555" y="4109273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≥10×</a:t>
            </a:r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9F0436F4-51D6-0745-9509-A317C97CF3C1}"/>
              </a:ext>
            </a:extLst>
          </p:cNvPr>
          <p:cNvSpPr/>
          <p:nvPr/>
        </p:nvSpPr>
        <p:spPr>
          <a:xfrm>
            <a:off x="8540495" y="3583493"/>
            <a:ext cx="1402261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1D87CE-3295-9A51-604C-D2B2B8AD549C}"/>
              </a:ext>
            </a:extLst>
          </p:cNvPr>
          <p:cNvSpPr txBox="1"/>
          <p:nvPr/>
        </p:nvSpPr>
        <p:spPr>
          <a:xfrm>
            <a:off x="8309229" y="3765993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772892-E4AD-965A-A28B-B453254E90FD}"/>
              </a:ext>
            </a:extLst>
          </p:cNvPr>
          <p:cNvSpPr txBox="1"/>
          <p:nvPr/>
        </p:nvSpPr>
        <p:spPr>
          <a:xfrm>
            <a:off x="8330565" y="4112036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≥100×</a:t>
            </a: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207941ED-A014-EDC5-C8C5-97D9BEC89081}"/>
              </a:ext>
            </a:extLst>
          </p:cNvPr>
          <p:cNvSpPr/>
          <p:nvPr/>
        </p:nvSpPr>
        <p:spPr>
          <a:xfrm>
            <a:off x="10078592" y="3583493"/>
            <a:ext cx="1333119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B0A843-42DA-FBA8-FA6B-4DDC224791B4}"/>
              </a:ext>
            </a:extLst>
          </p:cNvPr>
          <p:cNvSpPr txBox="1"/>
          <p:nvPr/>
        </p:nvSpPr>
        <p:spPr>
          <a:xfrm>
            <a:off x="9922191" y="3765993"/>
            <a:ext cx="1645920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628,6×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18CDF-FDD3-55A9-0BFA-41673233DB2D}"/>
              </a:ext>
            </a:extLst>
          </p:cNvPr>
          <p:cNvSpPr txBox="1"/>
          <p:nvPr/>
        </p:nvSpPr>
        <p:spPr>
          <a:xfrm>
            <a:off x="9942756" y="4109273"/>
            <a:ext cx="164592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t-EE" sz="900" b="0" i="0" noProof="0" dirty="0">
                <a:solidFill>
                  <a:srgbClr val="1A1A2E"/>
                </a:solidFill>
                <a:latin typeface="Calibri"/>
              </a:rPr>
              <a:t>maksimaalne
kõrvalekalle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EB58E4-D2AE-F691-DC75-F37090B2D04D}"/>
              </a:ext>
            </a:extLst>
          </p:cNvPr>
          <p:cNvSpPr txBox="1"/>
          <p:nvPr/>
        </p:nvSpPr>
        <p:spPr>
          <a:xfrm>
            <a:off x="9509760" y="2460306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≥3× reorder point</a:t>
            </a:r>
          </a:p>
        </p:txBody>
      </p:sp>
      <p:sp>
        <p:nvSpPr>
          <p:cNvPr id="65" name="Rounded Rectangle 22">
            <a:extLst>
              <a:ext uri="{FF2B5EF4-FFF2-40B4-BE49-F238E27FC236}">
                <a16:creationId xmlns:a16="http://schemas.microsoft.com/office/drawing/2014/main" id="{E9CA2C9C-EE39-D479-8F4C-7BD8157D4C40}"/>
              </a:ext>
            </a:extLst>
          </p:cNvPr>
          <p:cNvSpPr/>
          <p:nvPr/>
        </p:nvSpPr>
        <p:spPr>
          <a:xfrm>
            <a:off x="667512" y="5477256"/>
            <a:ext cx="10568178" cy="749808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33AB9C-ADBC-66C0-5F6C-6976B69BF61F}"/>
              </a:ext>
            </a:extLst>
          </p:cNvPr>
          <p:cNvSpPr txBox="1"/>
          <p:nvPr/>
        </p:nvSpPr>
        <p:spPr>
          <a:xfrm>
            <a:off x="857250" y="5706618"/>
            <a:ext cx="10012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t-EE" sz="1050" b="1" i="0" noProof="0" dirty="0">
                <a:solidFill>
                  <a:srgbClr val="4B5563"/>
                </a:solidFill>
                <a:latin typeface="Calibri"/>
              </a:rPr>
              <a:t>Järgmine analüüs vajaks: müügikiirus · hooajalisus · lead time · min/max varupoliitika · ostuhind / seotud kapital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IV · Helen — WEEK 7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Väike VIP-segment, suur mõju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Kõrge väärtusega klientide hoidmine võib mõjutada käivet ebaproportsionaalselt palju.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057400"/>
            <a:ext cx="10241280" cy="3063240"/>
          </a:xfrm>
          <a:prstGeom prst="roundRect">
            <a:avLst>
              <a:gd name="adj" fmla="val 2388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132588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TOP 10 VIP 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7592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009B8D"/>
                </a:solidFill>
              </a:rPr>
              <a:t>8,64%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1353312" y="3767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RFM-analüüsis arvestatud käibest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2331720"/>
            <a:ext cx="0" cy="2468880"/>
          </a:xfrm>
          <a:prstGeom prst="line">
            <a:avLst/>
          </a:prstGeom>
          <a:noFill/>
          <a:ln w="15240">
            <a:solidFill>
              <a:srgbClr val="B7D8D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6172200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B8D"/>
                </a:solidFill>
              </a:rPr>
              <a:t>Ja mis siis?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9260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Väga väikese kõrge väärtusega kliendigrupi hoidmine on juhtimisotsus, mitte ainult turundusdetail.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41330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i="1" dirty="0">
                <a:solidFill>
                  <a:srgbClr val="4B5563"/>
                </a:solidFill>
              </a:rPr>
              <a:t>Täpsustus: denominator on RFM-analüüsi kaasatud klientide monetary value, mitte kogu ettevõtte käive.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II · KALJU — PYTHON/STREAMLIT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4297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Dashboard pani küsima: kas langus on äris või andmetes?</a:t>
            </a:r>
            <a:endParaRPr lang="en-US" sz="2200" dirty="0"/>
          </a:p>
        </p:txBody>
      </p:sp>
      <p:pic>
        <p:nvPicPr>
          <p:cNvPr id="5" name="Image 0" descr="/mnt/data/Kalju 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291" y="893102"/>
            <a:ext cx="7927178" cy="49544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6280" y="5879592"/>
            <a:ext cx="10808208" cy="493776"/>
          </a:xfrm>
          <a:prstGeom prst="roundRect">
            <a:avLst>
              <a:gd name="adj" fmla="val 14815"/>
            </a:avLst>
          </a:prstGeom>
          <a:solidFill>
            <a:srgbClr val="1A1A2E">
              <a:alpha val="95000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4"/>
          <p:cNvSpPr/>
          <p:nvPr/>
        </p:nvSpPr>
        <p:spPr>
          <a:xfrm>
            <a:off x="941832" y="59436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</a:rPr>
              <a:t>MÄRKASIN → Pärast 2024. aastat kukub olemasolevate müügiandmete maht järsult.  KONTROLLIKSIN → kas 2025–2026 andmestik on täielik.</a:t>
            </a:r>
            <a:endParaRPr lang="en-US" sz="93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9646920" y="6382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Kalju WORKSHOP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 · HELEN — WEEK 6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Tartu kasv tuli tellimuste arvust, mitte suuremast ostukorvist</a:t>
            </a:r>
            <a:endParaRPr lang="en-US" sz="2200" dirty="0"/>
          </a:p>
        </p:txBody>
      </p:sp>
      <p:pic>
        <p:nvPicPr>
          <p:cNvPr id="5" name="Image 0" descr="/mnt/data/w6_role_b_tartu_kaupluse_dashboard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53980"/>
            <a:ext cx="6766560" cy="378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77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i="1" dirty="0">
                <a:solidFill>
                  <a:srgbClr val="6B7280"/>
                </a:solidFill>
              </a:rPr>
              <a:t>Päris Power BI dashboard · Tartu kauplus · Helen, Week 6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7543800" y="1417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</a:rPr>
              <a:t>2024 MÜÜGITULU, TARTU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4380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</a:rPr>
              <a:t>260 044 €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543800" y="2514600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7"/>
          <p:cNvSpPr/>
          <p:nvPr/>
        </p:nvSpPr>
        <p:spPr>
          <a:xfrm>
            <a:off x="7671816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Müügitulu                 ↑ +13,4%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136392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9"/>
          <p:cNvSpPr/>
          <p:nvPr/>
        </p:nvSpPr>
        <p:spPr>
          <a:xfrm>
            <a:off x="7671816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Tellimuste arv        ↑ +16,5%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43800" y="3758184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1"/>
          <p:cNvSpPr/>
          <p:nvPr/>
        </p:nvSpPr>
        <p:spPr>
          <a:xfrm>
            <a:off x="7671816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Keskmine tellimus   ↓ −2,6%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62088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777 → 905 tellimust · 295,13 € → 287,34 € AOV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543800" y="4892040"/>
            <a:ext cx="3913632" cy="100584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4"/>
          <p:cNvSpPr/>
          <p:nvPr/>
        </p:nvSpPr>
        <p:spPr>
          <a:xfrm>
            <a:off x="7754112" y="5166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9B8D"/>
                </a:solidFill>
              </a:rPr>
              <a:t>Ja mis siis?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823960" y="5148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Kasvu kvaliteeti ei saa hinnata ainult kogukäibe järgi.</a:t>
            </a:r>
            <a:endParaRPr lang="en-US" sz="950" dirty="0"/>
          </a:p>
        </p:txBody>
      </p:sp>
      <p:sp>
        <p:nvSpPr>
          <p:cNvPr id="19" name="Text 16">
            <a:hlinkClick r:id="rId4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W6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JUHTIMISSOOVITUSED ·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2E"/>
                </a:solidFill>
              </a:rPr>
              <a:t>Kolm otsust, mida andmed toetavad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Kontrolli andmete kvaliteeti enne otsustamist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5 116 duplikaati · ~1,46 mln € erinevus · 2025–2026 andmete täielikkuse küsimus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600200" y="2267712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Otsusta alles pärast puhastust, kontrollsummasid ja andmestiku katvuse kontrolli.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9144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Juhi väärtust, mitte ainult mahtu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564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Tartu +13,4% käive / +16,5% tellimused / −2,6% AOV · toote maht ≠ suurim käive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600200" y="374904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Vaata koos käivet, müügimahtu/tellimusi ja keskmist väärtust.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5800" y="4425696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91440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Hoia kõrge väärtusega kliendid lojaalsena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TOP 10 VIP Champions = 8,64% RFM-analüüsis arvestatud käibest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1600200" y="5230368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Testi sihitud VIP/Loyal retention-lähenemist; mõõda kordusostu ja väärtuse säilimist.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KASUTAMINE JA ÕPIKOGEMUS -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AI kiirendas tööd — kontroll jäi inimesele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TÖÖRIISTAD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5256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Python dashboard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Virtual environments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TÖÖVIIS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0288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Struktureeritud ja kommenteeritud kood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Meeskonnatööks loetav lahendus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Kontrollsummad ja piirangud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65008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8266176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84464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AI programmeerimise töövoos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Veaotsing ja alternatiivid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Inimene otsustab, mida tulemus tõendab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5074920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1325880" y="530352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Programmeerimisloogika mõistmine on olulisem kui süntaksi peast teadmine.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601675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B8D"/>
                </a:solidFill>
              </a:rPr>
              <a:t>Töötav kood ei tähenda automaatselt õiget tulemust.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LÕPP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918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1A2E"/>
                </a:solidFill>
                <a:latin typeface="Calibri"/>
              </a:rPr>
              <a:t>7:00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2E"/>
                </a:solidFill>
                <a:latin typeface="Calibri"/>
              </a:rPr>
              <a:t>Aitäh!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B8D"/>
                </a:solidFill>
                <a:latin typeface="Calibri"/>
              </a:rPr>
              <a:t>Küsimused?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6B7280"/>
                </a:solidFill>
                <a:latin typeface="Calibri"/>
              </a:rPr>
              <a:t>Kalju Tamme · Helen Tanner · Natalia </a:t>
            </a:r>
            <a:r>
              <a:rPr sz="1400" b="0" i="0" dirty="0" err="1">
                <a:solidFill>
                  <a:srgbClr val="6B7280"/>
                </a:solidFill>
                <a:latin typeface="Calibri"/>
              </a:rPr>
              <a:t>Krassilnikova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lang="et-EE" sz="1400" dirty="0">
                <a:solidFill>
                  <a:srgbClr val="6B7280"/>
                </a:solidFill>
              </a:rPr>
              <a:t>·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Olga </a:t>
            </a:r>
            <a:r>
              <a:rPr lang="en-US" sz="1400" b="0" i="0" dirty="0" err="1">
                <a:solidFill>
                  <a:srgbClr val="6B7280"/>
                </a:solidFill>
                <a:latin typeface="Calibri"/>
              </a:rPr>
              <a:t>Leisbblous</a:t>
            </a:r>
            <a:endParaRPr sz="14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4892040"/>
            <a:ext cx="10607040" cy="27432"/>
          </a:xfrm>
          <a:prstGeom prst="rect">
            <a:avLst/>
          </a:prstGeom>
          <a:solidFill>
            <a:srgbClr val="009B8D"/>
          </a:solidFill>
          <a:ln>
            <a:solidFill>
              <a:srgbClr val="009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Tõendatav analüüs on väärtuslik siis, kui see aitab teha parema järgmise otsuse.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1279</Words>
  <Application>Microsoft Office PowerPoint</Application>
  <PresentationFormat>Widescreen</PresentationFormat>
  <Paragraphs>165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Operations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Intelligence — andmetest otsuseni</dc:title>
  <dc:subject>DACA Week 10 lõppesitlus</dc:subject>
  <dc:creator>OpenAI</dc:creator>
  <cp:lastModifiedBy>Helen Tanner</cp:lastModifiedBy>
  <cp:revision>6</cp:revision>
  <dcterms:created xsi:type="dcterms:W3CDTF">2026-08-28T08:10:36Z</dcterms:created>
  <dcterms:modified xsi:type="dcterms:W3CDTF">2026-08-28T15:18:47Z</dcterms:modified>
</cp:coreProperties>
</file>